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theme/themeOverride13.xml" ContentType="application/vnd.openxmlformats-officedocument.themeOverride+xml"/>
  <Override PartName="/ppt/theme/themeOverride14.xml" ContentType="application/vnd.openxmlformats-officedocument.themeOverride+xml"/>
  <Override PartName="/ppt/theme/themeOverride15.xml" ContentType="application/vnd.openxmlformats-officedocument.themeOverr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25" r:id="rId3"/>
    <p:sldId id="357" r:id="rId4"/>
    <p:sldId id="358" r:id="rId5"/>
    <p:sldId id="359" r:id="rId6"/>
    <p:sldId id="360" r:id="rId7"/>
    <p:sldId id="364" r:id="rId8"/>
    <p:sldId id="361" r:id="rId9"/>
    <p:sldId id="365" r:id="rId10"/>
    <p:sldId id="362" r:id="rId11"/>
    <p:sldId id="363" r:id="rId12"/>
    <p:sldId id="366" r:id="rId13"/>
    <p:sldId id="353" r:id="rId14"/>
    <p:sldId id="354" r:id="rId15"/>
    <p:sldId id="355" r:id="rId16"/>
    <p:sldId id="356" r:id="rId1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8" autoAdjust="0"/>
    <p:restoredTop sz="94660"/>
  </p:normalViewPr>
  <p:slideViewPr>
    <p:cSldViewPr snapToGrid="0">
      <p:cViewPr varScale="1">
        <p:scale>
          <a:sx n="82" d="100"/>
          <a:sy n="82" d="100"/>
        </p:scale>
        <p:origin x="6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ico Tomasi" userId="293fa2a8-2856-4f08-95b9-1131a7af5421" providerId="ADAL" clId="{CACDBD82-EB44-4E50-B27A-F7960E045E99}"/>
    <pc:docChg chg="modSld">
      <pc:chgData name="Maico Tomasi" userId="293fa2a8-2856-4f08-95b9-1131a7af5421" providerId="ADAL" clId="{CACDBD82-EB44-4E50-B27A-F7960E045E99}" dt="2024-09-12T21:39:10.834" v="0" actId="1076"/>
      <pc:docMkLst>
        <pc:docMk/>
      </pc:docMkLst>
      <pc:sldChg chg="modSp mod">
        <pc:chgData name="Maico Tomasi" userId="293fa2a8-2856-4f08-95b9-1131a7af5421" providerId="ADAL" clId="{CACDBD82-EB44-4E50-B27A-F7960E045E99}" dt="2024-09-12T21:39:10.834" v="0" actId="1076"/>
        <pc:sldMkLst>
          <pc:docMk/>
          <pc:sldMk cId="791920310" sldId="256"/>
        </pc:sldMkLst>
        <pc:spChg chg="mod">
          <ac:chgData name="Maico Tomasi" userId="293fa2a8-2856-4f08-95b9-1131a7af5421" providerId="ADAL" clId="{CACDBD82-EB44-4E50-B27A-F7960E045E99}" dt="2024-09-12T21:39:10.834" v="0" actId="1076"/>
          <ac:spMkLst>
            <pc:docMk/>
            <pc:sldMk cId="791920310" sldId="256"/>
            <ac:spMk id="2" creationId="{00000000-0000-0000-0000-000000000000}"/>
          </ac:spMkLst>
        </pc:spChg>
      </pc:sldChg>
    </pc:docChg>
  </pc:docChgLst>
  <pc:docChgLst>
    <pc:chgData name="Maico Tomasi" userId="293fa2a8-2856-4f08-95b9-1131a7af5421" providerId="ADAL" clId="{C9577CE0-D616-40A8-BD8F-7C18C5981500}"/>
    <pc:docChg chg="modSld">
      <pc:chgData name="Maico Tomasi" userId="293fa2a8-2856-4f08-95b9-1131a7af5421" providerId="ADAL" clId="{C9577CE0-D616-40A8-BD8F-7C18C5981500}" dt="2024-09-11T21:40:18.358" v="0" actId="1076"/>
      <pc:docMkLst>
        <pc:docMk/>
      </pc:docMkLst>
      <pc:sldChg chg="modSp mod">
        <pc:chgData name="Maico Tomasi" userId="293fa2a8-2856-4f08-95b9-1131a7af5421" providerId="ADAL" clId="{C9577CE0-D616-40A8-BD8F-7C18C5981500}" dt="2024-09-11T21:40:18.358" v="0" actId="1076"/>
        <pc:sldMkLst>
          <pc:docMk/>
          <pc:sldMk cId="3092852654" sldId="325"/>
        </pc:sldMkLst>
        <pc:spChg chg="mod">
          <ac:chgData name="Maico Tomasi" userId="293fa2a8-2856-4f08-95b9-1131a7af5421" providerId="ADAL" clId="{C9577CE0-D616-40A8-BD8F-7C18C5981500}" dt="2024-09-11T21:40:18.358" v="0" actId="1076"/>
          <ac:spMkLst>
            <pc:docMk/>
            <pc:sldMk cId="3092852654" sldId="325"/>
            <ac:spMk id="6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12DA1-4D32-4EC9-811A-89883B6B1E7E}" type="datetimeFigureOut">
              <a:rPr lang="pt-BR" smtClean="0"/>
              <a:t>12/09/2024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09012-4ABC-4FDD-8C21-1E8DFADF45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09171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12DA1-4D32-4EC9-811A-89883B6B1E7E}" type="datetimeFigureOut">
              <a:rPr lang="pt-BR" smtClean="0"/>
              <a:t>12/09/2024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09012-4ABC-4FDD-8C21-1E8DFADF45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7876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12DA1-4D32-4EC9-811A-89883B6B1E7E}" type="datetimeFigureOut">
              <a:rPr lang="pt-BR" smtClean="0"/>
              <a:t>12/09/2024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09012-4ABC-4FDD-8C21-1E8DFADF45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777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12DA1-4D32-4EC9-811A-89883B6B1E7E}" type="datetimeFigureOut">
              <a:rPr lang="pt-BR" smtClean="0"/>
              <a:t>12/09/2024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09012-4ABC-4FDD-8C21-1E8DFADF45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6817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12DA1-4D32-4EC9-811A-89883B6B1E7E}" type="datetimeFigureOut">
              <a:rPr lang="pt-BR" smtClean="0"/>
              <a:t>12/09/2024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09012-4ABC-4FDD-8C21-1E8DFADF45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3992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12DA1-4D32-4EC9-811A-89883B6B1E7E}" type="datetimeFigureOut">
              <a:rPr lang="pt-BR" smtClean="0"/>
              <a:t>12/09/2024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09012-4ABC-4FDD-8C21-1E8DFADF45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5656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12DA1-4D32-4EC9-811A-89883B6B1E7E}" type="datetimeFigureOut">
              <a:rPr lang="pt-BR" smtClean="0"/>
              <a:t>12/09/2024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09012-4ABC-4FDD-8C21-1E8DFADF45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444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12DA1-4D32-4EC9-811A-89883B6B1E7E}" type="datetimeFigureOut">
              <a:rPr lang="pt-BR" smtClean="0"/>
              <a:t>12/09/2024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09012-4ABC-4FDD-8C21-1E8DFADF45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7687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12DA1-4D32-4EC9-811A-89883B6B1E7E}" type="datetimeFigureOut">
              <a:rPr lang="pt-BR" smtClean="0"/>
              <a:t>12/09/2024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09012-4ABC-4FDD-8C21-1E8DFADF45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0270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12DA1-4D32-4EC9-811A-89883B6B1E7E}" type="datetimeFigureOut">
              <a:rPr lang="pt-BR" smtClean="0"/>
              <a:t>12/09/2024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09012-4ABC-4FDD-8C21-1E8DFADF45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8646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12DA1-4D32-4EC9-811A-89883B6B1E7E}" type="datetimeFigureOut">
              <a:rPr lang="pt-BR" smtClean="0"/>
              <a:t>12/09/2024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09012-4ABC-4FDD-8C21-1E8DFADF45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8995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112DA1-4D32-4EC9-811A-89883B6B1E7E}" type="datetimeFigureOut">
              <a:rPr lang="pt-BR" smtClean="0"/>
              <a:t>12/09/2024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009012-4ABC-4FDD-8C21-1E8DFADF45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67769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769888" y="1113032"/>
            <a:ext cx="9144000" cy="2387600"/>
          </a:xfrm>
        </p:spPr>
        <p:txBody>
          <a:bodyPr/>
          <a:lstStyle/>
          <a:p>
            <a:r>
              <a:rPr lang="pt-BR" b="1" dirty="0">
                <a:latin typeface="Century Gothic" panose="020B0502020202020204" pitchFamily="34" charset="0"/>
              </a:rPr>
              <a:t>Teoria Geral de Sistemas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err="1">
                <a:latin typeface="Century Gothic" panose="020B0502020202020204" pitchFamily="34" charset="0"/>
              </a:rPr>
              <a:t>Maico</a:t>
            </a:r>
            <a:r>
              <a:rPr lang="pt-BR" dirty="0">
                <a:latin typeface="Century Gothic" panose="020B0502020202020204" pitchFamily="34" charset="0"/>
              </a:rPr>
              <a:t> Tomasi</a:t>
            </a:r>
          </a:p>
        </p:txBody>
      </p:sp>
    </p:spTree>
    <p:extLst>
      <p:ext uri="{BB962C8B-B14F-4D97-AF65-F5344CB8AC3E}">
        <p14:creationId xmlns:p14="http://schemas.microsoft.com/office/powerpoint/2010/main" val="7919203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Rectangle 3"/>
          <p:cNvSpPr>
            <a:spLocks noChangeArrowheads="1"/>
          </p:cNvSpPr>
          <p:nvPr/>
        </p:nvSpPr>
        <p:spPr bwMode="auto">
          <a:xfrm>
            <a:off x="1524001" y="2739509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pt-BR"/>
          </a:p>
        </p:txBody>
      </p:sp>
      <p:sp>
        <p:nvSpPr>
          <p:cNvPr id="6" name="Espaço Reservado para Conteúdo 13"/>
          <p:cNvSpPr txBox="1">
            <a:spLocks/>
          </p:cNvSpPr>
          <p:nvPr/>
        </p:nvSpPr>
        <p:spPr>
          <a:xfrm>
            <a:off x="1232647" y="2463406"/>
            <a:ext cx="9726706" cy="160337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4000"/>
              </a:lnSpc>
            </a:pPr>
            <a:r>
              <a:rPr lang="pt-BR" sz="6600" b="1" dirty="0"/>
              <a:t>VAMOS FALAR DE SISTEMAS</a:t>
            </a:r>
            <a:endParaRPr lang="pt-BR" sz="7200" b="1" dirty="0"/>
          </a:p>
          <a:p>
            <a:pPr marL="457200" indent="-457200" algn="l">
              <a:lnSpc>
                <a:spcPct val="114000"/>
              </a:lnSpc>
              <a:buFont typeface="Arial" panose="020B0604020202020204" pitchFamily="34" charset="0"/>
              <a:buChar char="•"/>
            </a:pPr>
            <a:endParaRPr lang="pt-BR" sz="7200" b="1" dirty="0"/>
          </a:p>
          <a:p>
            <a:pPr marL="457200" indent="-457200">
              <a:lnSpc>
                <a:spcPct val="114000"/>
              </a:lnSpc>
              <a:buFont typeface="Arial" panose="020B0604020202020204" pitchFamily="34" charset="0"/>
              <a:buChar char="•"/>
            </a:pPr>
            <a:endParaRPr lang="pt-BR" sz="7200" b="1" dirty="0"/>
          </a:p>
        </p:txBody>
      </p:sp>
    </p:spTree>
    <p:extLst>
      <p:ext uri="{BB962C8B-B14F-4D97-AF65-F5344CB8AC3E}">
        <p14:creationId xmlns:p14="http://schemas.microsoft.com/office/powerpoint/2010/main" val="30928526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Rectangle 3"/>
          <p:cNvSpPr>
            <a:spLocks noChangeArrowheads="1"/>
          </p:cNvSpPr>
          <p:nvPr/>
        </p:nvSpPr>
        <p:spPr bwMode="auto">
          <a:xfrm>
            <a:off x="1524001" y="2739509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pt-BR"/>
          </a:p>
        </p:txBody>
      </p:sp>
      <p:sp>
        <p:nvSpPr>
          <p:cNvPr id="8" name="Título 12"/>
          <p:cNvSpPr txBox="1">
            <a:spLocks/>
          </p:cNvSpPr>
          <p:nvPr/>
        </p:nvSpPr>
        <p:spPr>
          <a:xfrm>
            <a:off x="1317812" y="365125"/>
            <a:ext cx="1003598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4400" b="1"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pt-BR" dirty="0"/>
              <a:t>Sistemas e Gestão</a:t>
            </a:r>
          </a:p>
        </p:txBody>
      </p:sp>
      <p:sp>
        <p:nvSpPr>
          <p:cNvPr id="6" name="Espaço Reservado para Conteúdo 13"/>
          <p:cNvSpPr txBox="1">
            <a:spLocks/>
          </p:cNvSpPr>
          <p:nvPr/>
        </p:nvSpPr>
        <p:spPr>
          <a:xfrm>
            <a:off x="1616366" y="1690688"/>
            <a:ext cx="1018546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r>
              <a:rPr lang="pt-BR" dirty="0">
                <a:solidFill>
                  <a:prstClr val="black"/>
                </a:solidFill>
                <a:latin typeface="Calibri" panose="020F0502020204030204"/>
              </a:rPr>
              <a:t>A administração de sistemas de informação tem como ator principal o administrador, que, por sua vez, tem papel importantíssimo na estrutura da organização porque é responsável </a:t>
            </a:r>
            <a:r>
              <a:rPr lang="pt-BR" b="1" dirty="0">
                <a:solidFill>
                  <a:prstClr val="black"/>
                </a:solidFill>
                <a:latin typeface="Calibri" panose="020F0502020204030204"/>
              </a:rPr>
              <a:t>por planejar, organizar, dirigir e monitorar </a:t>
            </a:r>
            <a:r>
              <a:rPr lang="pt-BR" dirty="0">
                <a:solidFill>
                  <a:prstClr val="black"/>
                </a:solidFill>
                <a:latin typeface="Calibri" panose="020F0502020204030204"/>
              </a:rPr>
              <a:t>o desenvolvimento e alcance dos objetivos organizacionais. </a:t>
            </a:r>
          </a:p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r>
              <a:rPr lang="pt-BR" dirty="0">
                <a:solidFill>
                  <a:prstClr val="black"/>
                </a:solidFill>
                <a:latin typeface="Calibri" panose="020F0502020204030204"/>
              </a:rPr>
              <a:t>Além disso, o papel do administrador de sistemas de informação possui grande impacto, visto que consegue interligar os componentes necessários por meio de seu conhecimento e de sua visão ampla da organização para atender à necessidade através de recursos tecnológicos com o objetivo de tornar os processos mais eficazes.</a:t>
            </a:r>
          </a:p>
        </p:txBody>
      </p:sp>
    </p:spTree>
    <p:extLst>
      <p:ext uri="{BB962C8B-B14F-4D97-AF65-F5344CB8AC3E}">
        <p14:creationId xmlns:p14="http://schemas.microsoft.com/office/powerpoint/2010/main" val="23900888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6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Rectangle 3"/>
          <p:cNvSpPr>
            <a:spLocks noChangeArrowheads="1"/>
          </p:cNvSpPr>
          <p:nvPr/>
        </p:nvSpPr>
        <p:spPr bwMode="auto">
          <a:xfrm>
            <a:off x="1524001" y="2739509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pt-BR"/>
          </a:p>
        </p:txBody>
      </p:sp>
      <p:sp>
        <p:nvSpPr>
          <p:cNvPr id="8" name="Título 12"/>
          <p:cNvSpPr txBox="1">
            <a:spLocks/>
          </p:cNvSpPr>
          <p:nvPr/>
        </p:nvSpPr>
        <p:spPr>
          <a:xfrm>
            <a:off x="1317812" y="365125"/>
            <a:ext cx="1003598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4400" b="1"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pt-BR" dirty="0"/>
              <a:t>Sistemas e Gestão</a:t>
            </a:r>
          </a:p>
        </p:txBody>
      </p:sp>
      <p:sp>
        <p:nvSpPr>
          <p:cNvPr id="6" name="Espaço Reservado para Conteúdo 13"/>
          <p:cNvSpPr txBox="1">
            <a:spLocks/>
          </p:cNvSpPr>
          <p:nvPr/>
        </p:nvSpPr>
        <p:spPr>
          <a:xfrm>
            <a:off x="1616366" y="1690688"/>
            <a:ext cx="1018546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r>
              <a:rPr lang="pt-BR" dirty="0">
                <a:solidFill>
                  <a:prstClr val="black"/>
                </a:solidFill>
                <a:latin typeface="Calibri" panose="020F0502020204030204"/>
              </a:rPr>
              <a:t>Um administrador de sistema pode simplificar o processo de gestão utilizando um software que integre diversas áreas, como produção, financeiro, faturamento, RH, estoque, compras, manutenção, etc. </a:t>
            </a:r>
          </a:p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r>
              <a:rPr lang="pt-BR" dirty="0">
                <a:solidFill>
                  <a:prstClr val="black"/>
                </a:solidFill>
                <a:latin typeface="Calibri" panose="020F0502020204030204"/>
              </a:rPr>
              <a:t>Neste caso, o sistema precisa ser Interfuncional, o qual permite a atuação integrada em diferentes áreas. Os sistemas interfuncionais atuam para automatizar e integrar vários sistemas da empresa, como o ERP (Enterprise </a:t>
            </a:r>
            <a:r>
              <a:rPr lang="pt-BR" dirty="0" err="1">
                <a:solidFill>
                  <a:prstClr val="black"/>
                </a:solidFill>
                <a:latin typeface="Calibri" panose="020F0502020204030204"/>
              </a:rPr>
              <a:t>Resource</a:t>
            </a:r>
            <a:r>
              <a:rPr lang="pt-BR" dirty="0">
                <a:solidFill>
                  <a:prstClr val="black"/>
                </a:solidFill>
                <a:latin typeface="Calibri" panose="020F0502020204030204"/>
              </a:rPr>
              <a:t> Planning).</a:t>
            </a:r>
          </a:p>
        </p:txBody>
      </p:sp>
    </p:spTree>
    <p:extLst>
      <p:ext uri="{BB962C8B-B14F-4D97-AF65-F5344CB8AC3E}">
        <p14:creationId xmlns:p14="http://schemas.microsoft.com/office/powerpoint/2010/main" val="13793521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6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Rectangle 3"/>
          <p:cNvSpPr>
            <a:spLocks noChangeArrowheads="1"/>
          </p:cNvSpPr>
          <p:nvPr/>
        </p:nvSpPr>
        <p:spPr bwMode="auto">
          <a:xfrm>
            <a:off x="1524001" y="2739509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pt-BR"/>
          </a:p>
        </p:txBody>
      </p:sp>
      <p:sp>
        <p:nvSpPr>
          <p:cNvPr id="8" name="Título 12"/>
          <p:cNvSpPr txBox="1">
            <a:spLocks/>
          </p:cNvSpPr>
          <p:nvPr/>
        </p:nvSpPr>
        <p:spPr>
          <a:xfrm>
            <a:off x="1317812" y="365125"/>
            <a:ext cx="1003598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4400" b="1"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pt-BR" dirty="0"/>
              <a:t>Por quê Usamos Sistemas?</a:t>
            </a:r>
          </a:p>
        </p:txBody>
      </p:sp>
      <p:sp>
        <p:nvSpPr>
          <p:cNvPr id="6" name="Espaço Reservado para Conteúdo 13"/>
          <p:cNvSpPr txBox="1">
            <a:spLocks/>
          </p:cNvSpPr>
          <p:nvPr/>
        </p:nvSpPr>
        <p:spPr>
          <a:xfrm>
            <a:off x="1616366" y="1690688"/>
            <a:ext cx="1018546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r>
              <a:rPr lang="pt-BR" dirty="0">
                <a:solidFill>
                  <a:prstClr val="black"/>
                </a:solidFill>
                <a:latin typeface="Calibri" panose="020F0502020204030204"/>
              </a:rPr>
              <a:t>Os sistemas de informação podem afetar das mais variadas formas o desempenho das modernas organizações, abrindo-lhes, inclusive, novos espaços e oportunidades de atuação competitiva, motivo pelo qual os gerentes e administradores não podem se furtar a compreender sua natureza e a utilizar seus recursos com eficácia. </a:t>
            </a:r>
          </a:p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r>
              <a:rPr lang="pt-BR" dirty="0">
                <a:solidFill>
                  <a:prstClr val="black"/>
                </a:solidFill>
                <a:latin typeface="Calibri" panose="020F0502020204030204"/>
              </a:rPr>
              <a:t>O leque de novas oportunidades que os S.I. trazem começa com a melhoria e otimização das operações internas da organização, indo até suas operações externas, auxiliando na competitividade vantajosa através de benefícios diretos aos clientes ou usuários.</a:t>
            </a:r>
          </a:p>
        </p:txBody>
      </p:sp>
    </p:spTree>
    <p:extLst>
      <p:ext uri="{BB962C8B-B14F-4D97-AF65-F5344CB8AC3E}">
        <p14:creationId xmlns:p14="http://schemas.microsoft.com/office/powerpoint/2010/main" val="20129002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6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Rectangle 3"/>
          <p:cNvSpPr>
            <a:spLocks noChangeArrowheads="1"/>
          </p:cNvSpPr>
          <p:nvPr/>
        </p:nvSpPr>
        <p:spPr bwMode="auto">
          <a:xfrm>
            <a:off x="1524001" y="2739509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pt-BR"/>
          </a:p>
        </p:txBody>
      </p:sp>
      <p:sp>
        <p:nvSpPr>
          <p:cNvPr id="8" name="Título 12"/>
          <p:cNvSpPr txBox="1">
            <a:spLocks/>
          </p:cNvSpPr>
          <p:nvPr/>
        </p:nvSpPr>
        <p:spPr>
          <a:xfrm>
            <a:off x="1317812" y="365125"/>
            <a:ext cx="1003598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4400" b="1"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pt-BR" dirty="0"/>
              <a:t>Por quê Usamos Sistemas?</a:t>
            </a:r>
          </a:p>
        </p:txBody>
      </p:sp>
      <p:sp>
        <p:nvSpPr>
          <p:cNvPr id="6" name="Espaço Reservado para Conteúdo 13"/>
          <p:cNvSpPr txBox="1">
            <a:spLocks/>
          </p:cNvSpPr>
          <p:nvPr/>
        </p:nvSpPr>
        <p:spPr>
          <a:xfrm>
            <a:off x="1616366" y="1573491"/>
            <a:ext cx="1018546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pt-BR" dirty="0">
                <a:solidFill>
                  <a:prstClr val="black"/>
                </a:solidFill>
                <a:latin typeface="Calibri" panose="020F0502020204030204"/>
              </a:rPr>
              <a:t>Um gestor de TI de uma organização exponencial, pode implantar sistemas automatizados para ajudar a organização a continuar crescendo exponencialmente. Os sistemas devem ter como objetivo permitir que a empresa cresça, mas mantendo os custos praticamente fixos.</a:t>
            </a: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pt-BR" dirty="0">
                <a:solidFill>
                  <a:prstClr val="black"/>
                </a:solidFill>
                <a:latin typeface="Calibri" panose="020F0502020204030204"/>
              </a:rPr>
              <a:t>Uma boa opção para estes casos é a aplicação de Inteligência Artificial ou de sistemas RPA (</a:t>
            </a:r>
            <a:r>
              <a:rPr lang="pt-BR" dirty="0" err="1">
                <a:solidFill>
                  <a:prstClr val="black"/>
                </a:solidFill>
                <a:latin typeface="Calibri" panose="020F0502020204030204"/>
              </a:rPr>
              <a:t>Robotic</a:t>
            </a:r>
            <a:r>
              <a:rPr lang="pt-BR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pt-BR" dirty="0" err="1">
                <a:solidFill>
                  <a:prstClr val="black"/>
                </a:solidFill>
                <a:latin typeface="Calibri" panose="020F0502020204030204"/>
              </a:rPr>
              <a:t>Process</a:t>
            </a:r>
            <a:r>
              <a:rPr lang="pt-BR" dirty="0">
                <a:solidFill>
                  <a:prstClr val="black"/>
                </a:solidFill>
                <a:latin typeface="Calibri" panose="020F0502020204030204"/>
              </a:rPr>
              <a:t> Automation) que permite uma automatização do fluxo de trabalho com a utilização de IA e respostas automáticas para os clientes.</a:t>
            </a:r>
          </a:p>
        </p:txBody>
      </p:sp>
    </p:spTree>
    <p:extLst>
      <p:ext uri="{BB962C8B-B14F-4D97-AF65-F5344CB8AC3E}">
        <p14:creationId xmlns:p14="http://schemas.microsoft.com/office/powerpoint/2010/main" val="280574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6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Rectangle 3"/>
          <p:cNvSpPr>
            <a:spLocks noChangeArrowheads="1"/>
          </p:cNvSpPr>
          <p:nvPr/>
        </p:nvSpPr>
        <p:spPr bwMode="auto">
          <a:xfrm>
            <a:off x="1524001" y="2739509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pt-BR"/>
          </a:p>
        </p:txBody>
      </p:sp>
      <p:sp>
        <p:nvSpPr>
          <p:cNvPr id="8" name="Título 12"/>
          <p:cNvSpPr txBox="1">
            <a:spLocks/>
          </p:cNvSpPr>
          <p:nvPr/>
        </p:nvSpPr>
        <p:spPr>
          <a:xfrm>
            <a:off x="1317812" y="365125"/>
            <a:ext cx="1003598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4400" b="1"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pt-BR" dirty="0"/>
              <a:t>Por quê Usamos Sistemas?</a:t>
            </a:r>
          </a:p>
        </p:txBody>
      </p:sp>
      <p:sp>
        <p:nvSpPr>
          <p:cNvPr id="6" name="Espaço Reservado para Conteúdo 13"/>
          <p:cNvSpPr txBox="1">
            <a:spLocks/>
          </p:cNvSpPr>
          <p:nvPr/>
        </p:nvSpPr>
        <p:spPr>
          <a:xfrm>
            <a:off x="1616366" y="1573491"/>
            <a:ext cx="1018546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pt-BR" dirty="0">
                <a:solidFill>
                  <a:prstClr val="black"/>
                </a:solidFill>
                <a:latin typeface="Calibri" panose="020F0502020204030204"/>
              </a:rPr>
              <a:t>Um sistema de GED (gerenciamento eletrônico de documentos), também é interessante para eliminar o uso de papel.</a:t>
            </a: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pt-BR" dirty="0">
                <a:solidFill>
                  <a:prstClr val="black"/>
                </a:solidFill>
                <a:latin typeface="Calibri" panose="020F0502020204030204"/>
              </a:rPr>
              <a:t>Um sistema CRM (</a:t>
            </a:r>
            <a:r>
              <a:rPr lang="pt-BR" dirty="0" err="1">
                <a:solidFill>
                  <a:prstClr val="black"/>
                </a:solidFill>
                <a:latin typeface="Calibri" panose="020F0502020204030204"/>
              </a:rPr>
              <a:t>Customer</a:t>
            </a:r>
            <a:r>
              <a:rPr lang="pt-BR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pt-BR" dirty="0" err="1">
                <a:solidFill>
                  <a:prstClr val="black"/>
                </a:solidFill>
                <a:latin typeface="Calibri" panose="020F0502020204030204"/>
              </a:rPr>
              <a:t>Relationship</a:t>
            </a:r>
            <a:r>
              <a:rPr lang="pt-BR" dirty="0">
                <a:solidFill>
                  <a:prstClr val="black"/>
                </a:solidFill>
                <a:latin typeface="Calibri" panose="020F0502020204030204"/>
              </a:rPr>
              <a:t> Management) pode ser usado para automatizar o relacionamento dos clientes, registrando todos os pontos de contato com os clientes tornando-se uma vantagem competitiva.</a:t>
            </a:r>
          </a:p>
        </p:txBody>
      </p:sp>
    </p:spTree>
    <p:extLst>
      <p:ext uri="{BB962C8B-B14F-4D97-AF65-F5344CB8AC3E}">
        <p14:creationId xmlns:p14="http://schemas.microsoft.com/office/powerpoint/2010/main" val="34103966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6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Rectangle 3"/>
          <p:cNvSpPr>
            <a:spLocks noChangeArrowheads="1"/>
          </p:cNvSpPr>
          <p:nvPr/>
        </p:nvSpPr>
        <p:spPr bwMode="auto">
          <a:xfrm>
            <a:off x="1524001" y="2739509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pt-BR"/>
          </a:p>
        </p:txBody>
      </p:sp>
      <p:sp>
        <p:nvSpPr>
          <p:cNvPr id="8" name="Título 12"/>
          <p:cNvSpPr txBox="1">
            <a:spLocks/>
          </p:cNvSpPr>
          <p:nvPr/>
        </p:nvSpPr>
        <p:spPr>
          <a:xfrm>
            <a:off x="1317812" y="365125"/>
            <a:ext cx="1003598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4400" b="1"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pt-BR" dirty="0"/>
              <a:t>Importante Lembrarmos:</a:t>
            </a:r>
          </a:p>
        </p:txBody>
      </p:sp>
      <p:sp>
        <p:nvSpPr>
          <p:cNvPr id="6" name="Espaço Reservado para Conteúdo 13"/>
          <p:cNvSpPr txBox="1">
            <a:spLocks/>
          </p:cNvSpPr>
          <p:nvPr/>
        </p:nvSpPr>
        <p:spPr>
          <a:xfrm>
            <a:off x="1616366" y="1573491"/>
            <a:ext cx="1018546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pt-BR" dirty="0">
                <a:solidFill>
                  <a:prstClr val="black"/>
                </a:solidFill>
                <a:latin typeface="Calibri" panose="020F0502020204030204"/>
              </a:rPr>
              <a:t>Instituições que oferecem serviços de alta demanda devem contar com programas abrangentes de manutenção da disponibilidade das aplicações, que permitam a prevenção e a correção rápida de falhas originadas por diferentes fatores.</a:t>
            </a: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pt-BR" dirty="0">
                <a:solidFill>
                  <a:prstClr val="black"/>
                </a:solidFill>
                <a:latin typeface="Calibri" panose="020F0502020204030204"/>
              </a:rPr>
              <a:t>Interrupções, mesmo que momentâneas, da disponibilidade de serviços e aplicações críticos, impactam em diversos aspectos organizacionais, desde a impossibilidade de atendimento a clientes até a confiabilidade do serviço.</a:t>
            </a:r>
          </a:p>
        </p:txBody>
      </p:sp>
    </p:spTree>
    <p:extLst>
      <p:ext uri="{BB962C8B-B14F-4D97-AF65-F5344CB8AC3E}">
        <p14:creationId xmlns:p14="http://schemas.microsoft.com/office/powerpoint/2010/main" val="38862064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6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Rectangle 3"/>
          <p:cNvSpPr>
            <a:spLocks noChangeArrowheads="1"/>
          </p:cNvSpPr>
          <p:nvPr/>
        </p:nvSpPr>
        <p:spPr bwMode="auto">
          <a:xfrm>
            <a:off x="1524001" y="2739509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pt-BR"/>
          </a:p>
        </p:txBody>
      </p:sp>
      <p:sp>
        <p:nvSpPr>
          <p:cNvPr id="8" name="Título 12"/>
          <p:cNvSpPr txBox="1">
            <a:spLocks/>
          </p:cNvSpPr>
          <p:nvPr/>
        </p:nvSpPr>
        <p:spPr>
          <a:xfrm>
            <a:off x="1317812" y="365125"/>
            <a:ext cx="1003598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4400" b="1"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pt-BR" dirty="0"/>
              <a:t>Importante Lembrarmos:</a:t>
            </a:r>
          </a:p>
        </p:txBody>
      </p:sp>
      <p:sp>
        <p:nvSpPr>
          <p:cNvPr id="6" name="Espaço Reservado para Conteúdo 13"/>
          <p:cNvSpPr txBox="1">
            <a:spLocks/>
          </p:cNvSpPr>
          <p:nvPr/>
        </p:nvSpPr>
        <p:spPr>
          <a:xfrm>
            <a:off x="1616366" y="1573491"/>
            <a:ext cx="1018546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pt-BR" dirty="0">
                <a:solidFill>
                  <a:prstClr val="black"/>
                </a:solidFill>
                <a:latin typeface="Calibri" panose="020F0502020204030204"/>
              </a:rPr>
              <a:t>Considerar que tecnologia, pessoas, ambiente, gestão, software e hardware precisam estar sempre alinhadas.</a:t>
            </a:r>
          </a:p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r>
              <a:rPr lang="pt-BR" sz="2400" dirty="0">
                <a:solidFill>
                  <a:prstClr val="black"/>
                </a:solidFill>
                <a:latin typeface="Calibri" panose="020F0502020204030204"/>
              </a:rPr>
              <a:t>Uma das consequências associadas à indisponibilidade de sistemas é o prejuízo decorrente da impossibilidade de utilização de serviços e plataformas digitais.</a:t>
            </a:r>
          </a:p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r>
              <a:rPr lang="pt-BR" sz="2400" dirty="0">
                <a:solidFill>
                  <a:prstClr val="black"/>
                </a:solidFill>
                <a:latin typeface="Calibri" panose="020F0502020204030204"/>
              </a:rPr>
              <a:t>A formalização de um acordo de nível de serviço (Service </a:t>
            </a:r>
            <a:r>
              <a:rPr lang="pt-BR" sz="2400" dirty="0" err="1">
                <a:solidFill>
                  <a:prstClr val="black"/>
                </a:solidFill>
                <a:latin typeface="Calibri" panose="020F0502020204030204"/>
              </a:rPr>
              <a:t>Level</a:t>
            </a:r>
            <a:r>
              <a:rPr lang="pt-BR" sz="240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pt-BR" sz="2400" dirty="0" err="1">
                <a:solidFill>
                  <a:prstClr val="black"/>
                </a:solidFill>
                <a:latin typeface="Calibri" panose="020F0502020204030204"/>
              </a:rPr>
              <a:t>Agreement</a:t>
            </a:r>
            <a:r>
              <a:rPr lang="pt-BR" sz="2400" dirty="0">
                <a:solidFill>
                  <a:prstClr val="black"/>
                </a:solidFill>
                <a:latin typeface="Calibri" panose="020F0502020204030204"/>
              </a:rPr>
              <a:t> – SLA) entre cliente e prestador de serviço é uma importante ferramenta para modulação e diminuição dos impactos e prejuízos decorrentes de indisponibilidades de sistemas computacionais ou pelo menos dimensionar o tempo de atendimento.</a:t>
            </a: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endParaRPr lang="pt-BR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288398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6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Rectangle 3"/>
          <p:cNvSpPr>
            <a:spLocks noChangeArrowheads="1"/>
          </p:cNvSpPr>
          <p:nvPr/>
        </p:nvSpPr>
        <p:spPr bwMode="auto">
          <a:xfrm>
            <a:off x="1524001" y="2739509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pt-BR"/>
          </a:p>
        </p:txBody>
      </p:sp>
      <p:sp>
        <p:nvSpPr>
          <p:cNvPr id="8" name="Título 12"/>
          <p:cNvSpPr txBox="1">
            <a:spLocks/>
          </p:cNvSpPr>
          <p:nvPr/>
        </p:nvSpPr>
        <p:spPr>
          <a:xfrm>
            <a:off x="1317812" y="365125"/>
            <a:ext cx="1003598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4400" b="1"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pt-BR" dirty="0"/>
              <a:t>Importante Lembrarmos:</a:t>
            </a:r>
          </a:p>
        </p:txBody>
      </p:sp>
      <p:sp>
        <p:nvSpPr>
          <p:cNvPr id="6" name="Espaço Reservado para Conteúdo 13"/>
          <p:cNvSpPr txBox="1">
            <a:spLocks/>
          </p:cNvSpPr>
          <p:nvPr/>
        </p:nvSpPr>
        <p:spPr>
          <a:xfrm>
            <a:off x="1616366" y="1573491"/>
            <a:ext cx="1018546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r>
              <a:rPr lang="pt-BR" dirty="0">
                <a:solidFill>
                  <a:prstClr val="black"/>
                </a:solidFill>
                <a:latin typeface="Calibri" panose="020F0502020204030204"/>
              </a:rPr>
              <a:t>O desenvolvimento de projetos e planos de disponibilidade de sistemas computacionais é uma tarefa complexa, pois envolve uma grande quantidade de variáveis e circunstâncias, associadas aos diferentes riscos presentes no funcionamento do sistema.</a:t>
            </a:r>
          </a:p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r>
              <a:rPr lang="pt-BR" dirty="0">
                <a:solidFill>
                  <a:prstClr val="black"/>
                </a:solidFill>
                <a:latin typeface="Calibri" panose="020F0502020204030204"/>
              </a:rPr>
              <a:t>As indisponibilidades de sistema podem ser ocasionadas por diferentes fatores aleatórios, como falhas físicas ou de software, ou mesmo por fatores previstos, como manutenções preditivas e atualizações de sistema.</a:t>
            </a:r>
          </a:p>
        </p:txBody>
      </p:sp>
    </p:spTree>
    <p:extLst>
      <p:ext uri="{BB962C8B-B14F-4D97-AF65-F5344CB8AC3E}">
        <p14:creationId xmlns:p14="http://schemas.microsoft.com/office/powerpoint/2010/main" val="2138422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6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Rectangle 3"/>
          <p:cNvSpPr>
            <a:spLocks noChangeArrowheads="1"/>
          </p:cNvSpPr>
          <p:nvPr/>
        </p:nvSpPr>
        <p:spPr bwMode="auto">
          <a:xfrm>
            <a:off x="1524001" y="2739509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pt-BR"/>
          </a:p>
        </p:txBody>
      </p:sp>
      <p:sp>
        <p:nvSpPr>
          <p:cNvPr id="8" name="Título 12"/>
          <p:cNvSpPr txBox="1">
            <a:spLocks/>
          </p:cNvSpPr>
          <p:nvPr/>
        </p:nvSpPr>
        <p:spPr>
          <a:xfrm>
            <a:off x="1317812" y="365125"/>
            <a:ext cx="1003598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4400" b="1"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pt-BR" dirty="0"/>
              <a:t>Importante Lembrarmos:</a:t>
            </a:r>
          </a:p>
        </p:txBody>
      </p:sp>
      <p:sp>
        <p:nvSpPr>
          <p:cNvPr id="6" name="Espaço Reservado para Conteúdo 13"/>
          <p:cNvSpPr txBox="1">
            <a:spLocks/>
          </p:cNvSpPr>
          <p:nvPr/>
        </p:nvSpPr>
        <p:spPr>
          <a:xfrm>
            <a:off x="1616366" y="1573491"/>
            <a:ext cx="1018546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r>
              <a:rPr lang="pt-BR" dirty="0">
                <a:solidFill>
                  <a:prstClr val="black"/>
                </a:solidFill>
                <a:latin typeface="Calibri" panose="020F0502020204030204"/>
              </a:rPr>
              <a:t>O ritmo de mudanças e inserção de novas tecnologias vem acelerando nos últimos anos a </a:t>
            </a:r>
            <a:r>
              <a:rPr lang="pt-BR" dirty="0" err="1">
                <a:solidFill>
                  <a:prstClr val="black"/>
                </a:solidFill>
                <a:latin typeface="Calibri" panose="020F0502020204030204"/>
              </a:rPr>
              <a:t>hiperautomação</a:t>
            </a:r>
            <a:r>
              <a:rPr lang="pt-BR" dirty="0">
                <a:solidFill>
                  <a:prstClr val="black"/>
                </a:solidFill>
                <a:latin typeface="Calibri" panose="020F0502020204030204"/>
              </a:rPr>
              <a:t>, segurança baseada em Inteligência Artificial (IA). Pesquisas mais inteligentes e criptomoedas são alguns dos resultados da evolução de sistemas de informação e tecnologia da informação. Há cinquenta anos aconteceu um grande marco, a primeira mensagem foi enviada através da internet. Contudo, desde então, temos avançado rapidamente como sociedade em diversos rumos, mudando a forma como interagimos com a tecnologia e com as pessoas. Estas, inclusive, são o foco de muitas das tendências em Sistemas de Informação e Tecnologia da Informação para os próximos anos.</a:t>
            </a:r>
          </a:p>
        </p:txBody>
      </p:sp>
    </p:spTree>
    <p:extLst>
      <p:ext uri="{BB962C8B-B14F-4D97-AF65-F5344CB8AC3E}">
        <p14:creationId xmlns:p14="http://schemas.microsoft.com/office/powerpoint/2010/main" val="29255612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Rectangle 3"/>
          <p:cNvSpPr>
            <a:spLocks noChangeArrowheads="1"/>
          </p:cNvSpPr>
          <p:nvPr/>
        </p:nvSpPr>
        <p:spPr bwMode="auto">
          <a:xfrm>
            <a:off x="1524001" y="2739509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pt-BR"/>
          </a:p>
        </p:txBody>
      </p:sp>
      <p:sp>
        <p:nvSpPr>
          <p:cNvPr id="8" name="Título 12"/>
          <p:cNvSpPr txBox="1">
            <a:spLocks/>
          </p:cNvSpPr>
          <p:nvPr/>
        </p:nvSpPr>
        <p:spPr>
          <a:xfrm>
            <a:off x="1317812" y="365125"/>
            <a:ext cx="1003598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4400" b="1"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pt-BR" dirty="0"/>
              <a:t>Importante Lembrarmos:</a:t>
            </a:r>
          </a:p>
        </p:txBody>
      </p:sp>
      <p:sp>
        <p:nvSpPr>
          <p:cNvPr id="6" name="Espaço Reservado para Conteúdo 13"/>
          <p:cNvSpPr txBox="1">
            <a:spLocks/>
          </p:cNvSpPr>
          <p:nvPr/>
        </p:nvSpPr>
        <p:spPr>
          <a:xfrm>
            <a:off x="1616366" y="1573491"/>
            <a:ext cx="1018546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r>
              <a:rPr lang="pt-BR" dirty="0">
                <a:solidFill>
                  <a:prstClr val="black"/>
                </a:solidFill>
                <a:latin typeface="Calibri" panose="020F0502020204030204"/>
              </a:rPr>
              <a:t>O uso de aplicações que integram hardware e software em equipamentos analógicos é cada vez mais perceptível, fazendo com que a Internet das Coisas seja um conceito com o qual já convivemos. Unindo os recursos de IOT com </a:t>
            </a:r>
            <a:r>
              <a:rPr lang="pt-BR" dirty="0" err="1">
                <a:solidFill>
                  <a:prstClr val="black"/>
                </a:solidFill>
                <a:latin typeface="Calibri" panose="020F0502020204030204"/>
              </a:rPr>
              <a:t>bigdata</a:t>
            </a:r>
            <a:r>
              <a:rPr lang="pt-BR" dirty="0">
                <a:solidFill>
                  <a:prstClr val="black"/>
                </a:solidFill>
                <a:latin typeface="Calibri" panose="020F0502020204030204"/>
              </a:rPr>
              <a:t> e análise estatística através de IA, podemos usufruir de uma complexa e poderosa ferramenta.</a:t>
            </a:r>
          </a:p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r>
              <a:rPr lang="pt-BR" dirty="0">
                <a:solidFill>
                  <a:prstClr val="black"/>
                </a:solidFill>
                <a:latin typeface="Calibri" panose="020F0502020204030204"/>
              </a:rPr>
              <a:t>Manter um inventário atualizado de softwares instalados na empresa é crucial para melhor performance dos equipamentos, bem como organização e controle de registro de licenças e informações compartilhadas na empresa.</a:t>
            </a:r>
          </a:p>
        </p:txBody>
      </p:sp>
    </p:spTree>
    <p:extLst>
      <p:ext uri="{BB962C8B-B14F-4D97-AF65-F5344CB8AC3E}">
        <p14:creationId xmlns:p14="http://schemas.microsoft.com/office/powerpoint/2010/main" val="8153833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6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Rectangle 3"/>
          <p:cNvSpPr>
            <a:spLocks noChangeArrowheads="1"/>
          </p:cNvSpPr>
          <p:nvPr/>
        </p:nvSpPr>
        <p:spPr bwMode="auto">
          <a:xfrm>
            <a:off x="1524001" y="2739509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pt-BR"/>
          </a:p>
        </p:txBody>
      </p:sp>
      <p:sp>
        <p:nvSpPr>
          <p:cNvPr id="8" name="Título 12"/>
          <p:cNvSpPr txBox="1">
            <a:spLocks/>
          </p:cNvSpPr>
          <p:nvPr/>
        </p:nvSpPr>
        <p:spPr>
          <a:xfrm>
            <a:off x="1317812" y="365125"/>
            <a:ext cx="1003598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4400" b="1"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pt-BR" dirty="0"/>
              <a:t>E-commerce e </a:t>
            </a:r>
            <a:r>
              <a:rPr lang="pt-BR" dirty="0" err="1"/>
              <a:t>Omnichanel</a:t>
            </a:r>
            <a:endParaRPr lang="pt-BR" dirty="0"/>
          </a:p>
        </p:txBody>
      </p:sp>
      <p:sp>
        <p:nvSpPr>
          <p:cNvPr id="6" name="Espaço Reservado para Conteúdo 13"/>
          <p:cNvSpPr txBox="1">
            <a:spLocks/>
          </p:cNvSpPr>
          <p:nvPr/>
        </p:nvSpPr>
        <p:spPr>
          <a:xfrm>
            <a:off x="1616366" y="1573491"/>
            <a:ext cx="1018546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r>
              <a:rPr lang="pt-BR" dirty="0">
                <a:solidFill>
                  <a:prstClr val="black"/>
                </a:solidFill>
              </a:rPr>
              <a:t>O e-commerce representa um canal de venda online. O lojista pode comercializar produtos e serviços por meio de um website, de aplicativo, correio eletrônico, entre outros. Existem vários tipos de e-commerce, como: B2B (business </a:t>
            </a:r>
            <a:r>
              <a:rPr lang="pt-BR" dirty="0" err="1">
                <a:solidFill>
                  <a:prstClr val="black"/>
                </a:solidFill>
              </a:rPr>
              <a:t>to</a:t>
            </a:r>
            <a:r>
              <a:rPr lang="pt-BR" dirty="0">
                <a:solidFill>
                  <a:prstClr val="black"/>
                </a:solidFill>
              </a:rPr>
              <a:t> business), B2C (business </a:t>
            </a:r>
            <a:r>
              <a:rPr lang="pt-BR" dirty="0" err="1">
                <a:solidFill>
                  <a:prstClr val="black"/>
                </a:solidFill>
              </a:rPr>
              <a:t>to</a:t>
            </a:r>
            <a:r>
              <a:rPr lang="pt-BR" dirty="0">
                <a:solidFill>
                  <a:prstClr val="black"/>
                </a:solidFill>
              </a:rPr>
              <a:t> </a:t>
            </a:r>
            <a:r>
              <a:rPr lang="pt-BR" dirty="0" err="1">
                <a:solidFill>
                  <a:prstClr val="black"/>
                </a:solidFill>
              </a:rPr>
              <a:t>consumer</a:t>
            </a:r>
            <a:r>
              <a:rPr lang="pt-BR" dirty="0">
                <a:solidFill>
                  <a:prstClr val="black"/>
                </a:solidFill>
              </a:rPr>
              <a:t>), C2C (</a:t>
            </a:r>
            <a:r>
              <a:rPr lang="pt-BR" dirty="0" err="1">
                <a:solidFill>
                  <a:prstClr val="black"/>
                </a:solidFill>
              </a:rPr>
              <a:t>consumer</a:t>
            </a:r>
            <a:r>
              <a:rPr lang="pt-BR" dirty="0">
                <a:solidFill>
                  <a:prstClr val="black"/>
                </a:solidFill>
              </a:rPr>
              <a:t> </a:t>
            </a:r>
            <a:r>
              <a:rPr lang="pt-BR" dirty="0" err="1">
                <a:solidFill>
                  <a:prstClr val="black"/>
                </a:solidFill>
              </a:rPr>
              <a:t>to</a:t>
            </a:r>
            <a:r>
              <a:rPr lang="pt-BR" dirty="0">
                <a:solidFill>
                  <a:prstClr val="black"/>
                </a:solidFill>
              </a:rPr>
              <a:t> </a:t>
            </a:r>
            <a:r>
              <a:rPr lang="pt-BR" dirty="0" err="1">
                <a:solidFill>
                  <a:prstClr val="black"/>
                </a:solidFill>
              </a:rPr>
              <a:t>consumer</a:t>
            </a:r>
            <a:r>
              <a:rPr lang="pt-BR" dirty="0">
                <a:solidFill>
                  <a:prstClr val="black"/>
                </a:solidFill>
              </a:rPr>
              <a:t>), C2B (</a:t>
            </a:r>
            <a:r>
              <a:rPr lang="pt-BR" dirty="0" err="1">
                <a:solidFill>
                  <a:prstClr val="black"/>
                </a:solidFill>
              </a:rPr>
              <a:t>consumer</a:t>
            </a:r>
            <a:r>
              <a:rPr lang="pt-BR" dirty="0">
                <a:solidFill>
                  <a:prstClr val="black"/>
                </a:solidFill>
              </a:rPr>
              <a:t> </a:t>
            </a:r>
            <a:r>
              <a:rPr lang="pt-BR" dirty="0" err="1">
                <a:solidFill>
                  <a:prstClr val="black"/>
                </a:solidFill>
              </a:rPr>
              <a:t>to</a:t>
            </a:r>
            <a:r>
              <a:rPr lang="pt-BR" dirty="0">
                <a:solidFill>
                  <a:prstClr val="black"/>
                </a:solidFill>
              </a:rPr>
              <a:t> business), B2A (business </a:t>
            </a:r>
            <a:r>
              <a:rPr lang="pt-BR" dirty="0" err="1">
                <a:solidFill>
                  <a:prstClr val="black"/>
                </a:solidFill>
              </a:rPr>
              <a:t>to</a:t>
            </a:r>
            <a:r>
              <a:rPr lang="pt-BR" dirty="0">
                <a:solidFill>
                  <a:prstClr val="black"/>
                </a:solidFill>
              </a:rPr>
              <a:t> </a:t>
            </a:r>
            <a:r>
              <a:rPr lang="pt-BR" dirty="0" err="1">
                <a:solidFill>
                  <a:prstClr val="black"/>
                </a:solidFill>
              </a:rPr>
              <a:t>administration</a:t>
            </a:r>
            <a:r>
              <a:rPr lang="pt-BR" dirty="0">
                <a:solidFill>
                  <a:prstClr val="black"/>
                </a:solidFill>
              </a:rPr>
              <a:t>), M-</a:t>
            </a:r>
            <a:r>
              <a:rPr lang="pt-BR" dirty="0" err="1">
                <a:solidFill>
                  <a:prstClr val="black"/>
                </a:solidFill>
              </a:rPr>
              <a:t>Commerce</a:t>
            </a:r>
            <a:r>
              <a:rPr lang="pt-BR" dirty="0">
                <a:solidFill>
                  <a:prstClr val="black"/>
                </a:solidFill>
              </a:rPr>
              <a:t> (vendas em qualquer lugar e a qualquer hora), S-</a:t>
            </a:r>
            <a:r>
              <a:rPr lang="pt-BR" dirty="0" err="1">
                <a:solidFill>
                  <a:prstClr val="black"/>
                </a:solidFill>
              </a:rPr>
              <a:t>Commerce</a:t>
            </a:r>
            <a:r>
              <a:rPr lang="pt-BR" dirty="0">
                <a:solidFill>
                  <a:prstClr val="black"/>
                </a:solidFill>
              </a:rPr>
              <a:t> (vitrine de rede social) e T-</a:t>
            </a:r>
            <a:r>
              <a:rPr lang="pt-BR" dirty="0" err="1">
                <a:solidFill>
                  <a:prstClr val="black"/>
                </a:solidFill>
              </a:rPr>
              <a:t>Commerce</a:t>
            </a:r>
            <a:r>
              <a:rPr lang="pt-BR" dirty="0">
                <a:solidFill>
                  <a:prstClr val="black"/>
                </a:solidFill>
              </a:rPr>
              <a:t> (do conforto de casa). O </a:t>
            </a:r>
            <a:r>
              <a:rPr lang="pt-BR" dirty="0" err="1">
                <a:solidFill>
                  <a:prstClr val="black"/>
                </a:solidFill>
              </a:rPr>
              <a:t>omnichannel</a:t>
            </a:r>
            <a:r>
              <a:rPr lang="pt-BR" dirty="0">
                <a:solidFill>
                  <a:prstClr val="black"/>
                </a:solidFill>
              </a:rPr>
              <a:t> integra canais online e offline para vendas, pagamentos e atendimentos, o que quer dizer que ele não se limita à internet.</a:t>
            </a:r>
          </a:p>
          <a:p>
            <a:pPr marL="457200" indent="-457200" algn="l">
              <a:lnSpc>
                <a:spcPct val="114000"/>
              </a:lnSpc>
              <a:buFont typeface="Arial" panose="020B0604020202020204" pitchFamily="34" charset="0"/>
              <a:buChar char="•"/>
            </a:pPr>
            <a:endParaRPr lang="pt-BR" dirty="0"/>
          </a:p>
          <a:p>
            <a:pPr marL="457200" indent="-457200" algn="l">
              <a:lnSpc>
                <a:spcPct val="114000"/>
              </a:lnSpc>
              <a:buFont typeface="Arial" panose="020B0604020202020204" pitchFamily="34" charset="0"/>
              <a:buChar char="•"/>
            </a:pPr>
            <a:endParaRPr lang="pt-BR" dirty="0"/>
          </a:p>
          <a:p>
            <a:pPr marL="457200" indent="-457200">
              <a:lnSpc>
                <a:spcPct val="114000"/>
              </a:lnSpc>
              <a:buFont typeface="Arial" panose="020B0604020202020204" pitchFamily="34" charset="0"/>
              <a:buChar char="•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422537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Rectangle 3"/>
          <p:cNvSpPr>
            <a:spLocks noChangeArrowheads="1"/>
          </p:cNvSpPr>
          <p:nvPr/>
        </p:nvSpPr>
        <p:spPr bwMode="auto">
          <a:xfrm>
            <a:off x="1524001" y="2739509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pt-BR"/>
          </a:p>
        </p:txBody>
      </p:sp>
      <p:sp>
        <p:nvSpPr>
          <p:cNvPr id="8" name="Título 12"/>
          <p:cNvSpPr txBox="1">
            <a:spLocks/>
          </p:cNvSpPr>
          <p:nvPr/>
        </p:nvSpPr>
        <p:spPr>
          <a:xfrm>
            <a:off x="1317812" y="365125"/>
            <a:ext cx="1003598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4400" b="1"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pt-BR" dirty="0"/>
              <a:t>E-commerce e </a:t>
            </a:r>
            <a:r>
              <a:rPr lang="pt-BR" dirty="0" err="1"/>
              <a:t>Omnichanel</a:t>
            </a:r>
            <a:endParaRPr lang="pt-BR" dirty="0"/>
          </a:p>
        </p:txBody>
      </p:sp>
      <p:sp>
        <p:nvSpPr>
          <p:cNvPr id="6" name="Espaço Reservado para Conteúdo 13"/>
          <p:cNvSpPr txBox="1">
            <a:spLocks/>
          </p:cNvSpPr>
          <p:nvPr/>
        </p:nvSpPr>
        <p:spPr>
          <a:xfrm>
            <a:off x="1616366" y="1573491"/>
            <a:ext cx="1018546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r>
              <a:rPr lang="pt-BR" dirty="0">
                <a:solidFill>
                  <a:prstClr val="black"/>
                </a:solidFill>
              </a:rPr>
              <a:t>A ideia de </a:t>
            </a:r>
            <a:r>
              <a:rPr lang="pt-BR" dirty="0" err="1">
                <a:solidFill>
                  <a:prstClr val="black"/>
                </a:solidFill>
              </a:rPr>
              <a:t>omnichannel</a:t>
            </a:r>
            <a:r>
              <a:rPr lang="pt-BR" dirty="0">
                <a:solidFill>
                  <a:prstClr val="black"/>
                </a:solidFill>
              </a:rPr>
              <a:t>, é possibilitar a sincronização de dados como por exemplo estoques entre lojas físicas e virtuais, comprar no site e retirar na loja, administrar recursos financeiros oriundos de canais diferentes, comprar no website, trocar ou devolver na loja, comprar na loja itens não disponíveis no momento e acompanhar o pedido pela internet.</a:t>
            </a:r>
          </a:p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r>
              <a:rPr lang="pt-BR" dirty="0">
                <a:solidFill>
                  <a:prstClr val="black"/>
                </a:solidFill>
              </a:rPr>
              <a:t>O </a:t>
            </a:r>
            <a:r>
              <a:rPr lang="pt-BR" dirty="0" err="1">
                <a:solidFill>
                  <a:prstClr val="black"/>
                </a:solidFill>
              </a:rPr>
              <a:t>omnichannel</a:t>
            </a:r>
            <a:r>
              <a:rPr lang="pt-BR" dirty="0">
                <a:solidFill>
                  <a:prstClr val="black"/>
                </a:solidFill>
              </a:rPr>
              <a:t> utiliza ferramentas tecnológicas como cloud </a:t>
            </a:r>
            <a:r>
              <a:rPr lang="pt-BR" dirty="0" err="1">
                <a:solidFill>
                  <a:prstClr val="black"/>
                </a:solidFill>
              </a:rPr>
              <a:t>computing</a:t>
            </a:r>
            <a:r>
              <a:rPr lang="pt-BR" dirty="0">
                <a:solidFill>
                  <a:prstClr val="black"/>
                </a:solidFill>
              </a:rPr>
              <a:t> e business </a:t>
            </a:r>
            <a:r>
              <a:rPr lang="pt-BR" dirty="0" err="1">
                <a:solidFill>
                  <a:prstClr val="black"/>
                </a:solidFill>
              </a:rPr>
              <a:t>intelligence</a:t>
            </a:r>
            <a:r>
              <a:rPr lang="pt-BR" dirty="0">
                <a:solidFill>
                  <a:prstClr val="black"/>
                </a:solidFill>
              </a:rPr>
              <a:t> para integralizar estoques, atualizar em tempo real as informações dos pedidos e oferecer maior exatidão sobre o percurso de entrega dos itens.</a:t>
            </a:r>
          </a:p>
          <a:p>
            <a:pPr algn="l">
              <a:lnSpc>
                <a:spcPct val="114000"/>
              </a:lnSpc>
            </a:pPr>
            <a:endParaRPr lang="pt-BR" dirty="0"/>
          </a:p>
          <a:p>
            <a:pPr marL="457200" indent="-457200">
              <a:lnSpc>
                <a:spcPct val="114000"/>
              </a:lnSpc>
              <a:buFont typeface="Arial" panose="020B0604020202020204" pitchFamily="34" charset="0"/>
              <a:buChar char="•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523408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6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Rectangle 3"/>
          <p:cNvSpPr>
            <a:spLocks noChangeArrowheads="1"/>
          </p:cNvSpPr>
          <p:nvPr/>
        </p:nvSpPr>
        <p:spPr bwMode="auto">
          <a:xfrm>
            <a:off x="1524001" y="2739509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pt-BR"/>
          </a:p>
        </p:txBody>
      </p:sp>
      <p:sp>
        <p:nvSpPr>
          <p:cNvPr id="8" name="Título 12"/>
          <p:cNvSpPr txBox="1">
            <a:spLocks/>
          </p:cNvSpPr>
          <p:nvPr/>
        </p:nvSpPr>
        <p:spPr>
          <a:xfrm>
            <a:off x="1317812" y="365125"/>
            <a:ext cx="1003598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4400" b="1"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pt-BR" dirty="0"/>
              <a:t>Governança de TI</a:t>
            </a:r>
          </a:p>
        </p:txBody>
      </p:sp>
      <p:sp>
        <p:nvSpPr>
          <p:cNvPr id="6" name="Espaço Reservado para Conteúdo 13"/>
          <p:cNvSpPr txBox="1">
            <a:spLocks/>
          </p:cNvSpPr>
          <p:nvPr/>
        </p:nvSpPr>
        <p:spPr>
          <a:xfrm>
            <a:off x="1524001" y="1690688"/>
            <a:ext cx="1018546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r>
              <a:rPr lang="pt-BR" dirty="0">
                <a:solidFill>
                  <a:prstClr val="black"/>
                </a:solidFill>
                <a:latin typeface="Calibri" panose="020F0502020204030204"/>
              </a:rPr>
              <a:t>As corporações que compreendem a importância da Tecnologia da Informação (TI) e do seu valor agregado entendem que os recursos de infraestrutura de TI precisam estar alinhados à estratégia de negócio. Este alinhamento pode ser alcançado e mantido por meio de práticas de Governança de Tecnologia da Informação que estabeleçam papéis, controles e direções, assim como o atendimento a demandas de regulamentação e negócio, gerenciando as expectativas de todos os interessados.</a:t>
            </a:r>
          </a:p>
          <a:p>
            <a:pPr marL="457200" indent="-457200">
              <a:lnSpc>
                <a:spcPct val="114000"/>
              </a:lnSpc>
              <a:buFont typeface="Arial" panose="020B0604020202020204" pitchFamily="34" charset="0"/>
              <a:buChar char="•"/>
            </a:pP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18760893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Rectangle 3"/>
          <p:cNvSpPr>
            <a:spLocks noChangeArrowheads="1"/>
          </p:cNvSpPr>
          <p:nvPr/>
        </p:nvSpPr>
        <p:spPr bwMode="auto">
          <a:xfrm>
            <a:off x="1524001" y="2739509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pt-BR"/>
          </a:p>
        </p:txBody>
      </p:sp>
      <p:sp>
        <p:nvSpPr>
          <p:cNvPr id="8" name="Título 12"/>
          <p:cNvSpPr txBox="1">
            <a:spLocks/>
          </p:cNvSpPr>
          <p:nvPr/>
        </p:nvSpPr>
        <p:spPr>
          <a:xfrm>
            <a:off x="1317812" y="365125"/>
            <a:ext cx="1003598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4400" b="1"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pt-BR" dirty="0"/>
              <a:t>Governança de TI</a:t>
            </a:r>
          </a:p>
        </p:txBody>
      </p:sp>
      <p:sp>
        <p:nvSpPr>
          <p:cNvPr id="6" name="Espaço Reservado para Conteúdo 13"/>
          <p:cNvSpPr txBox="1">
            <a:spLocks/>
          </p:cNvSpPr>
          <p:nvPr/>
        </p:nvSpPr>
        <p:spPr>
          <a:xfrm>
            <a:off x="1616366" y="1461731"/>
            <a:ext cx="1018546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r>
              <a:rPr lang="pt-BR" dirty="0">
                <a:solidFill>
                  <a:prstClr val="black"/>
                </a:solidFill>
                <a:latin typeface="Calibri" panose="020F0502020204030204"/>
              </a:rPr>
              <a:t>O alinhamento estratégico da TI com o negócio ocorre quando os investimentos e os projetos da TI contribuem para alcançar a missão, os objetivos e as estratégias organizacionais.</a:t>
            </a:r>
          </a:p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r>
              <a:rPr lang="pt-BR" dirty="0">
                <a:solidFill>
                  <a:prstClr val="black"/>
                </a:solidFill>
                <a:latin typeface="Calibri" panose="020F0502020204030204"/>
              </a:rPr>
              <a:t>O apoio da alta administração aos projetos da TI é fator relevante que colabora para alcançar o alinhamento estratégico da TI com o negócio.</a:t>
            </a:r>
          </a:p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r>
              <a:rPr lang="pt-BR" dirty="0">
                <a:solidFill>
                  <a:prstClr val="black"/>
                </a:solidFill>
                <a:latin typeface="Calibri" panose="020F0502020204030204"/>
              </a:rPr>
              <a:t>Os projetos e ações da TI nas organizações, quando alinhados ao negócio, colaboram também com o atendimento de demandas legais, sociais e ambientais a que a organização está sujeita.</a:t>
            </a:r>
          </a:p>
        </p:txBody>
      </p:sp>
    </p:spTree>
    <p:extLst>
      <p:ext uri="{BB962C8B-B14F-4D97-AF65-F5344CB8AC3E}">
        <p14:creationId xmlns:p14="http://schemas.microsoft.com/office/powerpoint/2010/main" val="37938827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6" grpId="0" build="p"/>
    </p:bld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8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9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0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1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2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3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4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5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1571</TotalTime>
  <Words>1269</Words>
  <Application>Microsoft Office PowerPoint</Application>
  <PresentationFormat>Widescreen</PresentationFormat>
  <Paragraphs>45</Paragraphs>
  <Slides>16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Century Gothic</vt:lpstr>
      <vt:lpstr>Tema do Office</vt:lpstr>
      <vt:lpstr>Teoria Geral de Sistemas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Regina Allpine Rosa</dc:creator>
  <cp:lastModifiedBy>Maico Tomasi</cp:lastModifiedBy>
  <cp:revision>72</cp:revision>
  <dcterms:created xsi:type="dcterms:W3CDTF">2017-02-02T12:41:08Z</dcterms:created>
  <dcterms:modified xsi:type="dcterms:W3CDTF">2024-09-12T21:39:12Z</dcterms:modified>
</cp:coreProperties>
</file>